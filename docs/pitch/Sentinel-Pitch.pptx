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latest run (deterministic)</c:v>
                </c:pt>
              </c:strCache>
            </c:strRef>
          </c:tx>
          <c:spPr>
            <a:solidFill>
              <a:srgbClr val="22D3EE"/>
            </a:solidFill>
          </c:spPr>
          <c:cat>
            <c:strRef>
              <c:f>Sheet1!$A$2:$A$8</c:f>
              <c:strCache>
                <c:ptCount val="7"/>
                <c:pt idx="0">
                  <c:v>Root cause top-1</c:v>
                </c:pt>
                <c:pt idx="1">
                  <c:v>Root cause top-3</c:v>
                </c:pt>
                <c:pt idx="2">
                  <c:v>Detection</c:v>
                </c:pt>
                <c:pt idx="3">
                  <c:v>Evidence precision</c:v>
                </c:pt>
                <c:pt idx="4">
                  <c:v>Citation validity</c:v>
                </c:pt>
                <c:pt idx="5">
                  <c:v>False positives</c:v>
                </c:pt>
                <c:pt idx="6">
                  <c:v>Confident-wrong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0.0</c:v>
                </c:pt>
                <c:pt idx="6">
                  <c:v>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>
                  <a:solidFill>
                    <a:srgbClr val="E6EDF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B3A4A"/>
            </a:solidFill>
          </a:ln>
        </c:spPr>
        <c:txPr>
          <a:bodyPr/>
          <a:lstStyle/>
          <a:p>
            <a:pPr>
              <a:defRPr sz="900">
                <a:solidFill>
                  <a:srgbClr val="8B98A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2B3A4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B3A4A"/>
            </a:solidFill>
          </a:ln>
        </c:spPr>
        <c:txPr>
          <a:bodyPr/>
          <a:lstStyle/>
          <a:p>
            <a:pPr>
              <a:defRPr sz="900">
                <a:solidFill>
                  <a:srgbClr val="8B98A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8B98A6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top-1 accuracy</c:v>
                </c:pt>
              </c:strCache>
            </c:strRef>
          </c:tx>
          <c:spPr>
            <a:solidFill>
              <a:srgbClr val="22C55E"/>
            </a:solidFill>
          </c:spPr>
          <c:cat>
            <c:strRef>
              <c:f>Sheet1!$A$2:$A$15</c:f>
              <c:strCache>
                <c:ptCount val="14"/>
                <c:pt idx="0">
                  <c:v>bad deployment</c:v>
                </c:pt>
                <c:pt idx="1">
                  <c:v>config regression</c:v>
                </c:pt>
                <c:pt idx="2">
                  <c:v>cpu saturation</c:v>
                </c:pt>
                <c:pt idx="3">
                  <c:v>database latency</c:v>
                </c:pt>
                <c:pt idx="4">
                  <c:v>db pool exhaustion</c:v>
                </c:pt>
                <c:pt idx="5">
                  <c:v>deadlock</c:v>
                </c:pt>
                <c:pt idx="6">
                  <c:v>dependency failure</c:v>
                </c:pt>
                <c:pt idx="7">
                  <c:v>http 500 spike</c:v>
                </c:pt>
                <c:pt idx="8">
                  <c:v>memory leak</c:v>
                </c:pt>
                <c:pt idx="9">
                  <c:v>network latency</c:v>
                </c:pt>
                <c:pt idx="10">
                  <c:v>packet loss</c:v>
                </c:pt>
                <c:pt idx="11">
                  <c:v>queue backlog</c:v>
                </c:pt>
                <c:pt idx="12">
                  <c:v>redis failure</c:v>
                </c:pt>
                <c:pt idx="13">
                  <c:v>thread starvation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  <c:pt idx="12">
                  <c:v>100.0</c:v>
                </c:pt>
                <c:pt idx="13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confidence</c:v>
                </c:pt>
              </c:strCache>
            </c:strRef>
          </c:tx>
          <c:spPr>
            <a:solidFill>
              <a:srgbClr val="A78BFA"/>
            </a:solidFill>
          </c:spPr>
          <c:cat>
            <c:strRef>
              <c:f>Sheet1!$A$2:$A$15</c:f>
              <c:strCache>
                <c:ptCount val="14"/>
                <c:pt idx="0">
                  <c:v>bad deployment</c:v>
                </c:pt>
                <c:pt idx="1">
                  <c:v>config regression</c:v>
                </c:pt>
                <c:pt idx="2">
                  <c:v>cpu saturation</c:v>
                </c:pt>
                <c:pt idx="3">
                  <c:v>database latency</c:v>
                </c:pt>
                <c:pt idx="4">
                  <c:v>db pool exhaustion</c:v>
                </c:pt>
                <c:pt idx="5">
                  <c:v>deadlock</c:v>
                </c:pt>
                <c:pt idx="6">
                  <c:v>dependency failure</c:v>
                </c:pt>
                <c:pt idx="7">
                  <c:v>http 500 spike</c:v>
                </c:pt>
                <c:pt idx="8">
                  <c:v>memory leak</c:v>
                </c:pt>
                <c:pt idx="9">
                  <c:v>network latency</c:v>
                </c:pt>
                <c:pt idx="10">
                  <c:v>packet loss</c:v>
                </c:pt>
                <c:pt idx="11">
                  <c:v>queue backlog</c:v>
                </c:pt>
                <c:pt idx="12">
                  <c:v>redis failure</c:v>
                </c:pt>
                <c:pt idx="13">
                  <c:v>thread starvation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89.0</c:v>
                </c:pt>
                <c:pt idx="1">
                  <c:v>69.9</c:v>
                </c:pt>
                <c:pt idx="2">
                  <c:v>54.5</c:v>
                </c:pt>
                <c:pt idx="3">
                  <c:v>58.3</c:v>
                </c:pt>
                <c:pt idx="4">
                  <c:v>79.2</c:v>
                </c:pt>
                <c:pt idx="5">
                  <c:v>68.6</c:v>
                </c:pt>
                <c:pt idx="6">
                  <c:v>56.1</c:v>
                </c:pt>
                <c:pt idx="7">
                  <c:v>65.1</c:v>
                </c:pt>
                <c:pt idx="8">
                  <c:v>75.0</c:v>
                </c:pt>
                <c:pt idx="9">
                  <c:v>50.2</c:v>
                </c:pt>
                <c:pt idx="10">
                  <c:v>70.4</c:v>
                </c:pt>
                <c:pt idx="11">
                  <c:v>67.7</c:v>
                </c:pt>
                <c:pt idx="12">
                  <c:v>70.2</c:v>
                </c:pt>
                <c:pt idx="13">
                  <c:v>66.5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>
                  <a:solidFill>
                    <a:srgbClr val="E6EDF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B3A4A"/>
            </a:solidFill>
          </a:ln>
        </c:spPr>
        <c:txPr>
          <a:bodyPr/>
          <a:lstStyle/>
          <a:p>
            <a:pPr>
              <a:defRPr sz="900">
                <a:solidFill>
                  <a:srgbClr val="8B98A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</c:scaling>
        <c:delete val="0"/>
        <c:axPos val="b"/>
        <c:majorGridlines>
          <c:spPr>
            <a:ln>
              <a:solidFill>
                <a:srgbClr val="2B3A4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B3A4A"/>
            </a:solidFill>
          </a:ln>
        </c:spPr>
        <c:txPr>
          <a:bodyPr/>
          <a:lstStyle/>
          <a:p>
            <a:pPr>
              <a:defRPr sz="900">
                <a:solidFill>
                  <a:srgbClr val="8B98A6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8B98A6"/>
              </a:solidFill>
            </a:defRPr>
          </a:pPr>
        </a:p>
      </c:txPr>
    </c:legend>
    <c:dispBlanksAs val="gap"/>
  </c:chart>
  <c:txPr>
    <a:bodyPr/>
    <a:lstStyle/>
    <a:p>
      <a:pPr>
        <a:defRPr sz="900">
          <a:solidFill>
            <a:srgbClr val="8B98A6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evidence items</c:v>
                </c:pt>
              </c:strCache>
            </c:strRef>
          </c:tx>
          <c:dPt>
            <c:idx val="0"/>
            <c:spPr>
              <a:solidFill>
                <a:srgbClr val="22D3EE"/>
              </a:solidFill>
              <a:ln>
                <a:solidFill>
                  <a:srgbClr val="0A0E13"/>
                </a:solidFill>
              </a:ln>
            </c:spPr>
          </c:dPt>
          <c:dPt>
            <c:idx val="1"/>
            <c:spPr>
              <a:solidFill>
                <a:srgbClr val="A78BFA"/>
              </a:solidFill>
              <a:ln>
                <a:solidFill>
                  <a:srgbClr val="0A0E13"/>
                </a:solidFill>
              </a:ln>
            </c:spPr>
          </c:dPt>
          <c:dPt>
            <c:idx val="2"/>
            <c:spPr>
              <a:solidFill>
                <a:srgbClr val="60A5FA"/>
              </a:solidFill>
              <a:ln>
                <a:solidFill>
                  <a:srgbClr val="0A0E13"/>
                </a:solidFill>
              </a:ln>
            </c:spPr>
          </c:dPt>
          <c:dPt>
            <c:idx val="3"/>
            <c:spPr>
              <a:solidFill>
                <a:srgbClr val="8B98A6"/>
              </a:solidFill>
              <a:ln>
                <a:solidFill>
                  <a:srgbClr val="0A0E13"/>
                </a:solidFill>
              </a:ln>
            </c:spPr>
          </c:dPt>
          <c:dPt>
            <c:idx val="4"/>
            <c:spPr>
              <a:solidFill>
                <a:srgbClr val="F59E0B"/>
              </a:solidFill>
              <a:ln>
                <a:solidFill>
                  <a:srgbClr val="0A0E13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metric</c:v>
                </c:pt>
                <c:pt idx="1">
                  <c:v>deployment</c:v>
                </c:pt>
                <c:pt idx="2">
                  <c:v>trace</c:v>
                </c:pt>
                <c:pt idx="3">
                  <c:v>dependency</c:v>
                </c:pt>
                <c:pt idx="4">
                  <c:v>log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E6EDF3"/>
                  </a:solidFill>
                </a:defRPr>
              </a:pPr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8B98A6"/>
              </a:solidFill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8B98A6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dPt>
            <c:idx val="0"/>
            <c:spPr>
              <a:solidFill>
                <a:srgbClr val="22D3EE"/>
              </a:solidFill>
              <a:ln>
                <a:solidFill>
                  <a:srgbClr val="0A0E13"/>
                </a:solidFill>
              </a:ln>
            </c:spPr>
          </c:dPt>
          <c:dPt>
            <c:idx val="1"/>
            <c:spPr>
              <a:solidFill>
                <a:srgbClr val="60A5FA"/>
              </a:solidFill>
              <a:ln>
                <a:solidFill>
                  <a:srgbClr val="0A0E13"/>
                </a:solidFill>
              </a:ln>
            </c:spPr>
          </c:dPt>
          <c:dPt>
            <c:idx val="2"/>
            <c:spPr>
              <a:solidFill>
                <a:srgbClr val="F59E0B"/>
              </a:solidFill>
              <a:ln>
                <a:solidFill>
                  <a:srgbClr val="0A0E13"/>
                </a:solidFill>
              </a:ln>
            </c:spPr>
          </c:dPt>
          <c:dPt>
            <c:idx val="3"/>
            <c:spPr>
              <a:solidFill>
                <a:srgbClr val="A78BFA"/>
              </a:solidFill>
              <a:ln>
                <a:solidFill>
                  <a:srgbClr val="0A0E13"/>
                </a:solidFill>
              </a:ln>
            </c:spPr>
          </c:dPt>
          <c:dPt>
            <c:idx val="4"/>
            <c:spPr>
              <a:solidFill>
                <a:srgbClr val="22C55E"/>
              </a:solidFill>
              <a:ln>
                <a:solidFill>
                  <a:srgbClr val="0A0E13"/>
                </a:solidFill>
              </a:ln>
            </c:spPr>
          </c:dPt>
          <c:dPt>
            <c:idx val="5"/>
            <c:spPr>
              <a:solidFill>
                <a:srgbClr val="8B98A6"/>
              </a:solidFill>
              <a:ln>
                <a:solidFill>
                  <a:srgbClr val="0A0E13"/>
                </a:solidFill>
              </a:ln>
            </c:spPr>
          </c:dPt>
          <c:dPt>
            <c:idx val="6"/>
            <c:spPr>
              <a:solidFill>
                <a:srgbClr val="5D6B79"/>
              </a:solidFill>
              <a:ln>
                <a:solidFill>
                  <a:srgbClr val="0A0E13"/>
                </a:solidFill>
              </a:ln>
            </c:spPr>
          </c:dPt>
          <c:dPt>
            <c:idx val="7"/>
            <c:spPr>
              <a:solidFill>
                <a:srgbClr val="EF4444"/>
              </a:solidFill>
              <a:ln>
                <a:solidFill>
                  <a:srgbClr val="0A0E13"/>
                </a:solidFill>
              </a:ln>
            </c:spPr>
          </c:dPt>
          <c:dPt>
            <c:idx val="8"/>
            <c:spPr>
              <a:solidFill>
                <a:srgbClr val="0E9AB0"/>
              </a:solidFill>
              <a:ln>
                <a:solidFill>
                  <a:srgbClr val="0A0E13"/>
                </a:solidFill>
              </a:ln>
            </c:spPr>
          </c:dPt>
          <c:dPt>
            <c:idx val="9"/>
            <c:spPr>
              <a:solidFill>
                <a:srgbClr val="3B82F6"/>
              </a:solidFill>
              <a:ln>
                <a:solidFill>
                  <a:srgbClr val="0A0E13"/>
                </a:solidFill>
              </a:ln>
            </c:spPr>
          </c:dPt>
          <c:dPt>
            <c:idx val="10"/>
            <c:spPr>
              <a:solidFill>
                <a:srgbClr val="D97706"/>
              </a:solidFill>
              <a:ln>
                <a:solidFill>
                  <a:srgbClr val="0A0E13"/>
                </a:solidFill>
              </a:ln>
            </c:spPr>
          </c:dPt>
          <c:cat>
            <c:strRef>
              <c:f>Sheet1!$A$2:$A$12</c:f>
              <c:strCache>
                <c:ptCount val="11"/>
                <c:pt idx="0">
                  <c:v>Timeline</c:v>
                </c:pt>
                <c:pt idx="1">
                  <c:v>Metrics</c:v>
                </c:pt>
                <c:pt idx="2">
                  <c:v>Log</c:v>
                </c:pt>
                <c:pt idx="3">
                  <c:v>Trace</c:v>
                </c:pt>
                <c:pt idx="4">
                  <c:v>Deployment</c:v>
                </c:pt>
                <c:pt idx="5">
                  <c:v>Dependency</c:v>
                </c:pt>
                <c:pt idx="6">
                  <c:v>Historical</c:v>
                </c:pt>
                <c:pt idx="7">
                  <c:v>Hypothesis Generator</c:v>
                </c:pt>
                <c:pt idx="8">
                  <c:v>Synthesizer</c:v>
                </c:pt>
                <c:pt idx="9">
                  <c:v>Evidence Verifier</c:v>
                </c:pt>
                <c:pt idx="10">
                  <c:v>Persist Results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37</c:v>
                </c:pt>
                <c:pt idx="1">
                  <c:v>121</c:v>
                </c:pt>
                <c:pt idx="2">
                  <c:v>44</c:v>
                </c:pt>
                <c:pt idx="3">
                  <c:v>1176</c:v>
                </c:pt>
                <c:pt idx="4">
                  <c:v>9</c:v>
                </c:pt>
                <c:pt idx="5">
                  <c:v>118</c:v>
                </c:pt>
                <c:pt idx="6">
                  <c:v>12</c:v>
                </c:pt>
                <c:pt idx="7">
                  <c:v>1</c:v>
                </c:pt>
                <c:pt idx="8">
                  <c:v>5</c:v>
                </c:pt>
                <c:pt idx="9">
                  <c:v>1</c:v>
                </c:pt>
                <c:pt idx="10">
                  <c:v>57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8B98A6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8B98A6"/>
          </a:solidFill>
          <a:latin typeface="Segoe U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3"/>
          </a:solidFill>
          <a:ln w="9525">
            <a:solidFill>
              <a:srgbClr val="0A0E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000" b="0" i="0">
                <a:solidFill>
                  <a:srgbClr val="22D3EE"/>
                </a:solidFill>
                <a:latin typeface="Segoe UI"/>
              </a:rPr>
              <a:t>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1440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5400" b="1" i="0" spc="600">
                <a:solidFill>
                  <a:srgbClr val="E6EDF3"/>
                </a:solidFill>
                <a:latin typeface="Segoe UI"/>
              </a:rPr>
              <a:t>SENTINEL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0" i="0">
                <a:solidFill>
                  <a:srgbClr val="8B98A6"/>
                </a:solidFill>
                <a:latin typeface="Segoe UI"/>
              </a:rPr>
              <a:t>Evidence-driven incident intelligence for modern software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E6EDF3"/>
                </a:solidFill>
                <a:latin typeface="Segoe UI"/>
              </a:rPr>
              <a:t>Detects production incidents · correlates logs, metrics, traces, deployments and code · investigates root causes</a:t>
            </a:r>
          </a:p>
          <a:p>
            <a:pPr algn="l"/>
            <a:r>
              <a:rPr sz="1400" b="0" i="0">
                <a:solidFill>
                  <a:srgbClr val="E6EDF3"/>
                </a:solidFill>
                <a:latin typeface="Segoe UI"/>
              </a:rPr>
              <a:t>with a deterministic engine and a local model · proves every claim with evidence · keeps humans in the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Segoe UI"/>
              </a:rPr>
              <a:t>Open source · self-hosted · no paid APIs · 119 benchmark cases · 100% root-cause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D6B79"/>
                </a:solidFill>
                <a:latin typeface="Consolas"/>
              </a:rPr>
              <a:t>https://github.com/raunitgrey7/sentinel</a:t>
            </a:r>
          </a:p>
          <a:p>
            <a:pPr algn="l"/>
            <a:r>
              <a:rPr sz="1100" b="0" i="0">
                <a:solidFill>
                  <a:srgbClr val="5D6B79"/>
                </a:solidFill>
                <a:latin typeface="Consolas"/>
              </a:rPr>
              <a:t>http://localhost:3000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Monitoring tells you a service is unhealthy. Nobody tells you why — with proof.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828800" cy="12344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TYPICAL WAR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Consolas"/>
              </a:rPr>
              <a:t>5–12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engineers pulled in per severity-1 incident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463040"/>
            <a:ext cx="1828800" cy="12344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697480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TIME SPENT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181051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onsolas"/>
              </a:rPr>
              <a:t>~70%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2860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of MTTR is diagnosis, not the fix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463040"/>
            <a:ext cx="1828800" cy="12344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9160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SIGNAL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81051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60A5FA"/>
                </a:solidFill>
                <a:latin typeface="Consolas"/>
              </a:rPr>
              <a:t>5+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2860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logs, metrics, traces, deploys, git,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1463040"/>
            <a:ext cx="1828800" cy="12344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720840" y="155448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AI OPS TODAY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181051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  <a:latin typeface="Consolas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28600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root causes that cite their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92608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▸ The 2:13 PM problem — </a:t>
            </a:r>
            <a:r>
              <a:rPr sz="1400">
                <a:solidFill>
                  <a:srgbClr val="E6EDF3"/>
                </a:solidFill>
                <a:latin typeface="Segoe UI"/>
              </a:rPr>
              <a:t> payment errors climb, latency climbs, DB connections climb. Dashboards light up. Every tool says *something is wrong*; none says *what changed and why*.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▸ Diagnosis is manual correlation — </a:t>
            </a:r>
            <a:r>
              <a:rPr sz="1400">
                <a:solidFill>
                  <a:srgbClr val="E6EDF3"/>
                </a:solidFill>
                <a:latin typeface="Segoe UI"/>
              </a:rPr>
              <a:t> an engineer opens six tabs, guesses, and checks the deploy log last.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▸ LLM ops tools made it worse, not better — </a:t>
            </a:r>
            <a:r>
              <a:rPr sz="1400">
                <a:solidFill>
                  <a:srgbClr val="E6EDF3"/>
                </a:solidFill>
                <a:latin typeface="Segoe UI"/>
              </a:rPr>
              <a:t> a chat box over logs produces a confident paragraph with no evidence, no reproducibility, and a prompt-injection surface the size of your log volume.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▸ What teams actually need — </a:t>
            </a:r>
            <a:r>
              <a:rPr sz="1400">
                <a:solidFill>
                  <a:srgbClr val="E6EDF3"/>
                </a:solidFill>
                <a:latin typeface="Segoe UI"/>
              </a:rPr>
              <a:t> a system that reasons over evidence, ranks explanations, says how sure it is, shows what contradicts it, and never acts without a human.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D6B79"/>
                </a:solidFill>
                <a:latin typeface="Segoe UI"/>
              </a:rPr>
              <a:t>Left-hand figures are illustrative of common incident-response experience, not measurements from Sentinel.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Sentinel is not an AI-first system. The LLM is one component inside a deterministic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Telemetry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logs · metrics · traces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155448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Normalisation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OTel attributes,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0056" y="155448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Detection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sustained rules,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78624" y="155448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Correlation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7 investigators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37192" y="155448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Evidence graph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cited handles E1…En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29184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Hypotheses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catalog +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329184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72029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LLM narration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local model, cites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0056" y="329184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72029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Verification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rejects, calibrates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78624" y="329184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Human decision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approve · reject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7192" y="3291840"/>
            <a:ext cx="205740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>
                <a:solidFill>
                  <a:srgbClr val="E6EDF3"/>
                </a:solidFill>
                <a:latin typeface="Segoe UI"/>
              </a:rPr>
              <a:t>Action</a:t>
            </a:r>
          </a:p>
          <a:p>
            <a:pPr algn="ctr"/>
            <a:r>
              <a:rPr sz="900">
                <a:solidFill>
                  <a:srgbClr val="8B98A6"/>
                </a:solidFill>
                <a:latin typeface="Segoe UI"/>
              </a:rPr>
              <a:t>rollback, verify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1988820"/>
            <a:ext cx="201168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18888" y="1988820"/>
            <a:ext cx="201168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77456" y="1988820"/>
            <a:ext cx="201168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36024" y="1988820"/>
            <a:ext cx="201168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531620" y="2423160"/>
            <a:ext cx="9034272" cy="868680"/>
          </a:xfrm>
          <a:prstGeom prst="bentConnector3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60320" y="3726180"/>
            <a:ext cx="201168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818888" y="3726180"/>
            <a:ext cx="201168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077456" y="3726180"/>
            <a:ext cx="201168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36024" y="3726180"/>
            <a:ext cx="201168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489204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▸ Deterministic where it matters — </a:t>
            </a:r>
            <a:r>
              <a:rPr sz="1200">
                <a:solidFill>
                  <a:srgbClr val="E6EDF3"/>
                </a:solidFill>
                <a:latin typeface="Segoe UI"/>
              </a:rPr>
              <a:t> detection, clustering, correlation, scoring and verification are code with unit tests — reproducible in CI.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▸ The model narrates, reorders and cites — </a:t>
            </a:r>
            <a:r>
              <a:rPr sz="1200">
                <a:solidFill>
                  <a:srgbClr val="E6EDF3"/>
                </a:solidFill>
                <a:latin typeface="Segoe UI"/>
              </a:rPr>
              <a:t> it cannot invent evidence, categories or numbers; the verifier discards unknown handles and re-derives confidence.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▸ Works with no model at all — </a:t>
            </a:r>
            <a:r>
              <a:rPr sz="1200">
                <a:solidFill>
                  <a:srgbClr val="E6EDF3"/>
                </a:solidFill>
                <a:latin typeface="Segoe UI"/>
              </a:rPr>
              <a:t> a deterministic narrator renders every model-shaped output, so the benchmark measures the pipeline and the model separately.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▸ Recommendation-only by default — </a:t>
            </a:r>
            <a:r>
              <a:rPr sz="1200">
                <a:solidFill>
                  <a:srgbClr val="E6EDF3"/>
                </a:solidFill>
                <a:latin typeface="Segoe UI"/>
              </a:rPr>
              <a:t> four-eyes approval, audit trail, agents get read-only tools.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A real incident, end to end: INC-2026-0001 — High error rate on payment-service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4</a:t>
            </a:r>
          </a:p>
        </p:txBody>
      </p:sp>
      <p:pic>
        <p:nvPicPr>
          <p:cNvPr id="6" name="Picture 5" descr="incid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680960" cy="4590365"/>
          </a:xfrm>
          <a:prstGeom prst="rect">
            <a:avLst/>
          </a:prstGeom>
          <a:ln w="9525">
            <a:solidFill>
              <a:srgbClr val="2B3A4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8458200" y="132588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95360" y="141732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673352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Consolas"/>
              </a:rPr>
              <a:t>Database…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2148840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Database connection-pool exhaustion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42316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595360" y="251460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770632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2C55E"/>
                </a:solidFill>
                <a:latin typeface="Consolas"/>
              </a:rPr>
              <a:t>89%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46120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deterministic score 89% · verified yes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520440"/>
            <a:ext cx="3200400" cy="10058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0" y="361188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867912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343400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metric 9 · deployment 3 · trace 2 · dependency 2 · log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617720"/>
            <a:ext cx="3200400" cy="114300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95360" y="4709160"/>
            <a:ext cx="29260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BLAST RADIUS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965192"/>
            <a:ext cx="29260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5440680"/>
            <a:ext cx="29260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services merged into one incident, primary re-pointed to the deepest failing callee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7680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8B98A6"/>
                </a:solidFill>
                <a:latin typeface="Segoe UI"/>
              </a:rPr>
              <a:t>Screenshot from the running platform (Docker Compose stack, PostgreSQL + Redis, separate worker). The fault was a bad deployment that raised transaction concurrency past the pool.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How an investigation works: eleven checkpointed stages, resumable after a crash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Timeline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37 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146304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Metrics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121 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82880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51960" y="146304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Log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44 ms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60520" y="182880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126480" y="146304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Trace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1176 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82880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01000" y="146304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Deployment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9 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09560" y="182880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875520" y="146304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Dependency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118 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84080" y="182880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278892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Historical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12 ms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394460" y="2194560"/>
            <a:ext cx="9372600" cy="594360"/>
          </a:xfrm>
          <a:prstGeom prst="bentConnector3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77440" y="278892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Hypothesis Generator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1 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315468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251960" y="278892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Root Cause Synthesizer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5 ms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60520" y="315468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26480" y="278892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Evidence Verifier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1 ms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35040" y="315468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01000" y="2788920"/>
            <a:ext cx="1783080" cy="7315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Persist Results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57 ms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9560" y="3154680"/>
            <a:ext cx="91440" cy="0"/>
          </a:xfrm>
          <a:prstGeom prst="line">
            <a:avLst/>
          </a:prstGeom>
          <a:ln w="15875">
            <a:solidFill>
              <a:srgbClr val="2B3A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4251960"/>
          <a:ext cx="1115568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858000"/>
                <a:gridCol w="2286000"/>
              </a:tblGrid>
              <a:tr h="256032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D3EE"/>
                          </a:solidFill>
                          <a:latin typeface="Segoe UI"/>
                        </a:rPr>
                        <a:t>Stage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D3EE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22D3EE"/>
                          </a:solidFill>
                          <a:latin typeface="Segoe UI"/>
                        </a:rPr>
                        <a:t>Output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Metrics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baseline vs incident deviation (z-score, % change), saturation vs ceiling, monotonic trend; 'remained normal' contradictions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metric evidence + signals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Logs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template mining (Drain-style masking), burst ratio vs baseline, keyword → signal catalog, new-exception detection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log evidence, error clusters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Traces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per-operation p95 vs baseline, error spans, client-slow/server-ok → network, critical path of slowest trace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trace evidence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Deployments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versions, commits, changed files, config diffs with proximity-to-onset scoring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deployment/config evidence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Dependency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downstream health, blast radius, shared-dependency culprit hints on the service graph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culprit hints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Historical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incident signature → embedding → cosine retrieval over resolved incidents (RAG)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'resembles INC-031' evidence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Hypotheses → Synthesizer → Verifier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catalog of 13 failure modes with required/contradicting signals; explicit score; model narrates &amp; cites; verifier re-derives confidence and blocks large reorders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E6EDF3"/>
                          </a:solidFill>
                          <a:latin typeface="Segoe UI"/>
                        </a:rPr>
                        <a:t>ranked, cited, calibrated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The evidence graph: root-cause analysis as graph + temporal reasoning, not semantic vibes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6</a:t>
            </a:r>
          </a:p>
        </p:txBody>
      </p:sp>
      <p:pic>
        <p:nvPicPr>
          <p:cNvPr id="6" name="Picture 5" descr="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223760" cy="4317129"/>
          </a:xfrm>
          <a:prstGeom prst="rect">
            <a:avLst/>
          </a:prstGeom>
          <a:ln w="9525">
            <a:solidFill>
              <a:srgbClr val="2B3A4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046720" y="1371600"/>
            <a:ext cx="3657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Nodes — </a:t>
            </a:r>
            <a:r>
              <a:rPr sz="1100">
                <a:solidFill>
                  <a:srgbClr val="E6EDF3"/>
                </a:solidFill>
                <a:latin typeface="Segoe UI"/>
              </a:rPr>
              <a:t> incident, services, deployments, commits, alerts, evidence (E1…En), hypotheses, similar past incidents.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Edges — </a:t>
            </a:r>
            <a:r>
              <a:rPr sz="1100">
                <a:solidFill>
                  <a:srgbClr val="E6EDF3"/>
                </a:solidFill>
                <a:latin typeface="Segoe UI"/>
              </a:rPr>
              <a:t> affects · depends_on · triggered_by · correlated_with · supports · contradicts · resembles — with weights.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Handles are minted by the system — </a:t>
            </a:r>
            <a:r>
              <a:rPr sz="1100">
                <a:solidFill>
                  <a:srgbClr val="E6EDF3"/>
                </a:solidFill>
                <a:latin typeface="Segoe UI"/>
              </a:rPr>
              <a:t> the model may only cite E-handles that exist; the verifier drops anything else and records it.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Contradictions are first-class — </a:t>
            </a:r>
            <a:r>
              <a:rPr sz="1100">
                <a:solidFill>
                  <a:srgbClr val="E6EDF3"/>
                </a:solidFill>
                <a:latin typeface="Segoe UI"/>
              </a:rPr>
              <a:t> 'CPU remained normal' is stored as evidence and shown on the root-cause card; it lowers confidence rather than being hidden.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Score breakdown is stored per hypothesis — </a:t>
            </a:r>
            <a:r>
              <a:rPr sz="1100">
                <a:solidFill>
                  <a:srgbClr val="E6EDF3"/>
                </a:solidFill>
                <a:latin typeface="Segoe UI"/>
              </a:rPr>
              <a:t> signal support + temporal + dependency + historical − contradictions → a number the UI can explain.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Deterministic-first is the product. The model is the least interesting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3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554"/>
                <a:gridCol w="3747565"/>
                <a:gridCol w="5532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Chat-box over logs (typical 'AI ops')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Sentinel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Reproducibility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different answer every run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same evidence → same ranking; benchmarked in CI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Evidence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prose, no references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every claim cites system-minted evidence handles; invalid citations are rejected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Confidence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whatever the model says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re-derived from evidence kinds, contradictions and citation validity; capped at 95%; &lt; 55% → human review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Prompt injection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log content can steer the answer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telemetry rendered as data blocks; model cannot add categories/evidence; deterministic ranking guarded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Model dependency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paid API, data leaves the network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local Ollama or no model at all — the platform works fully without one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Remediation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'AI rolled back prod'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playbooks proposed; four-eyes approval; adapter executes; verification; audit log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Measurability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anecdotes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119 scenarios, ground truth, healthy controls, calibration, latency — quality gate in CI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Measured, not claimed: 119 synthetic production failures, ground truth never reaches 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0" y="137160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09560" y="146304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71907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22D3EE"/>
                </a:solidFill>
                <a:latin typeface="Consolas"/>
              </a:rPr>
              <a:t>119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19456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113 faults · 6 healthy controls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84080" y="137160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921240" y="146304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MEDIAN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171907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  <a:latin typeface="Consolas"/>
              </a:rPr>
              <a:t>0.39s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219456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p95 0.63s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5603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09560" y="265176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FIRST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9077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onsolas"/>
              </a:rPr>
              <a:t>96.5%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38328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top-1, before symptom/cause + noise fixes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2560320"/>
            <a:ext cx="1828800" cy="105156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21240" y="2651760"/>
            <a:ext cx="15544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 i="0" spc="100">
                <a:solidFill>
                  <a:srgbClr val="8B98A6"/>
                </a:solidFill>
                <a:latin typeface="Segoe UI"/>
              </a:rPr>
              <a:t>CALIBRATION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907792"/>
            <a:ext cx="15544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60A5FA"/>
                </a:solidFill>
                <a:latin typeface="Consolas"/>
              </a:rPr>
              <a:t>0.32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383280"/>
            <a:ext cx="155448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800" b="0" i="0">
                <a:solidFill>
                  <a:srgbClr val="8B98A6"/>
                </a:solidFill>
                <a:latin typeface="Segoe UI"/>
              </a:rPr>
              <a:t>ECE — under-confident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749039"/>
            <a:ext cx="3931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Segoe UI"/>
              </a:rPr>
              <a:t>▸ 14 root-cause categories — </a:t>
            </a:r>
            <a:r>
              <a:rPr sz="1000">
                <a:solidFill>
                  <a:srgbClr val="E6EDF3"/>
                </a:solidFill>
                <a:latin typeface="Segoe UI"/>
              </a:rPr>
              <a:t> × target services × intensity / noise / confounding-deploy variants.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Segoe UI"/>
              </a:rPr>
              <a:t>▸ Same code path as production — </a:t>
            </a:r>
            <a:r>
              <a:rPr sz="1000">
                <a:solidFill>
                  <a:srgbClr val="E6EDF3"/>
                </a:solidFill>
                <a:latin typeface="Segoe UI"/>
              </a:rPr>
              <a:t> detector → orchestrator → verifier; telemetry synthesised for the whole topology with realistic propagation.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22D3EE"/>
                </a:solidFill>
                <a:latin typeface="Segoe UI"/>
              </a:rPr>
              <a:t>▸ Quality gate in CI — </a:t>
            </a:r>
            <a:r>
              <a:rPr sz="1000">
                <a:solidFill>
                  <a:srgbClr val="E6EDF3"/>
                </a:solidFill>
                <a:latin typeface="Segoe UI"/>
              </a:rPr>
              <a:t> accuracy ≥ 85%, false positives ≤ 10%, citation validity ≥ 95%.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D6B79"/>
                </a:solidFill>
                <a:latin typeface="Segoe UI"/>
              </a:rPr>
              <a:t>Honesty note: telemetry is synthetic and the catalog and scenarios share an author — see docs/evaluation/methodology.md, threats to validity.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Every failure mode, individually: detection and top-1 accuracy per fault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9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25880"/>
          <a:ext cx="658368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325880"/>
          <a:ext cx="438911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541"/>
                <a:gridCol w="519764"/>
                <a:gridCol w="635267"/>
                <a:gridCol w="519764"/>
                <a:gridCol w="519764"/>
                <a:gridCol w="693018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D3EE"/>
                          </a:solidFill>
                          <a:latin typeface="Segoe UI"/>
                        </a:rPr>
                        <a:t>Fault type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D3EE"/>
                          </a:solidFill>
                          <a:latin typeface="Segoe UI"/>
                        </a:rPr>
                        <a:t>Cases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D3EE"/>
                          </a:solidFill>
                          <a:latin typeface="Segoe UI"/>
                        </a:rPr>
                        <a:t>Detected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D3EE"/>
                          </a:solidFill>
                          <a:latin typeface="Segoe UI"/>
                        </a:rPr>
                        <a:t>Top-1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D3EE"/>
                          </a:solidFill>
                          <a:latin typeface="Segoe UI"/>
                        </a:rPr>
                        <a:t>Top-3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D3EE"/>
                          </a:solidFill>
                          <a:latin typeface="Segoe UI"/>
                        </a:rPr>
                        <a:t>Mean conf.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bad_deployment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0.89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config_regression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0.70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cpu_saturation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0.55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database_latency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0.58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db_pool_exhaustion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0.79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deadlock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0.69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dependency_failure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0.56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http_500_spike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0.65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memory_leak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network_latency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0.50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packet_loss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0.70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queue_backlog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0.68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redis_failure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0.70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thread_starvation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22C55E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E6EDF3"/>
                          </a:solidFill>
                          <a:latin typeface="Segoe UI"/>
                        </a:rPr>
                        <a:t>0.67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Confidence you can defend: calibrated, capped, conservative — and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10</a:t>
            </a:r>
          </a:p>
        </p:txBody>
      </p:sp>
      <p:pic>
        <p:nvPicPr>
          <p:cNvPr id="6" name="Picture 5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577840" cy="3058815"/>
          </a:xfrm>
          <a:prstGeom prst="rect">
            <a:avLst/>
          </a:prstGeom>
          <a:ln w="9525">
            <a:solidFill>
              <a:srgbClr val="2B3A4A"/>
            </a:solidFill>
          </a:ln>
        </p:spPr>
      </p:pic>
      <p:pic>
        <p:nvPicPr>
          <p:cNvPr id="7" name="Picture 6" descr="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25880"/>
            <a:ext cx="5394960" cy="2784495"/>
          </a:xfrm>
          <a:prstGeom prst="rect">
            <a:avLst/>
          </a:prstGeom>
          <a:ln w="9525">
            <a:solidFill>
              <a:srgbClr val="2B3A4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52628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Confidence is re-derived, never trusted — </a:t>
            </a:r>
            <a:r>
              <a:rPr sz="1100">
                <a:solidFill>
                  <a:srgbClr val="E6EDF3"/>
                </a:solidFill>
                <a:latin typeface="Segoe UI"/>
              </a:rPr>
              <a:t> score × citation validity − contradictions; ×0.6 if verification fails; capped at 0.75 with &lt; 3 evidence kinds; never above 0.95.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The gap is in the safe direction — </a:t>
            </a:r>
            <a:r>
              <a:rPr sz="1100">
                <a:solidFill>
                  <a:srgbClr val="E6EDF3"/>
                </a:solidFill>
                <a:latin typeface="Segoe UI"/>
              </a:rPr>
              <a:t> reported confidence sits below observed accuracy (ECE 0.32) — the system says 'probably' when it is right, not 'certainly' when it is wrong.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Below 0.55 → HUMAN_REVIEW — </a:t>
            </a:r>
            <a:r>
              <a:rPr sz="1100">
                <a:solidFill>
                  <a:srgbClr val="E6EDF3"/>
                </a:solidFill>
                <a:latin typeface="Segoe UI"/>
              </a:rPr>
              <a:t> the incident is routed to a person instead of a playbook.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Median 0.39s per investigation — </a:t>
            </a:r>
            <a:r>
              <a:rPr sz="1100">
                <a:solidFill>
                  <a:srgbClr val="E6EDF3"/>
                </a:solidFill>
                <a:latin typeface="Segoe UI"/>
              </a:rPr>
              <a:t> on SQLite, in-process; PostgreSQL + worker is the production shape.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Where the evidence comes from, and where the time goes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11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51206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8B98A6"/>
                </a:solidFill>
                <a:latin typeface="Segoe UI"/>
              </a:rPr>
              <a:t>Evidence mix for INC-2026-0001 (17 items across 5 signal types)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035040" y="1371600"/>
          <a:ext cx="56692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56235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 i="0">
                <a:solidFill>
                  <a:srgbClr val="8B98A6"/>
                </a:solidFill>
                <a:latin typeface="Segoe UI"/>
              </a:rPr>
              <a:t>Investigator time for the same incident — total 1.6s, model time 0s (deterministic narrator)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AI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What a local model adds — measured honestly, including when it hurt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914400"/>
                <a:gridCol w="1463040"/>
                <a:gridCol w="1280160"/>
                <a:gridCol w="4297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Run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Top-1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Citation validity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Median time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Notes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Deterministic narrator (reference)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3/3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0.4 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the pipeline alone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qwen2.5:3b, free reordering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2/3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248 s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narrator flipped a correct answer on a 0.25 score gap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qwen2.5:3b + rank-stability guard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3/3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261 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flip rejected and recorded; cross-exam over-skeptical → human review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74720"/>
            <a:ext cx="110642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▸ Provider abstraction — </a:t>
            </a:r>
            <a:r>
              <a:rPr sz="1200">
                <a:solidFill>
                  <a:srgbClr val="E6EDF3"/>
                </a:solidFill>
                <a:latin typeface="Segoe UI"/>
              </a:rPr>
              <a:t> generate · structured · embed. Ollama on localhost (no key, nothing leaves the host), deterministic fallback, circuit breaker, JSON-schema validation with repair and one re-prompt.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▸ Two guard rails validated by the study — </a:t>
            </a:r>
            <a:r>
              <a:rPr sz="1200">
                <a:solidFill>
                  <a:srgbClr val="E6EDF3"/>
                </a:solidFill>
                <a:latin typeface="Segoe UI"/>
              </a:rPr>
              <a:t> (1) the narrator may reorder only within a 0.10 deterministic score gap; (2) model verification can lower confidence, never raise it.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▸ Conclusion — </a:t>
            </a:r>
            <a:r>
              <a:rPr sz="1200">
                <a:solidFill>
                  <a:srgbClr val="E6EDF3"/>
                </a:solidFill>
                <a:latin typeface="Segoe UI"/>
              </a:rPr>
              <a:t> a 3B model improves prose, not root-cause identification — so it is optional. 7B+ on a GPU is the next experiment; the harness is ready (SENTINEL_LLM_PROVIDER=ollama make eval).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2D3EE"/>
                </a:solidFill>
                <a:latin typeface="Segoe UI"/>
              </a:rPr>
              <a:t>▸ Cost — </a:t>
            </a:r>
            <a:r>
              <a:rPr sz="1200">
                <a:solidFill>
                  <a:srgbClr val="E6EDF3"/>
                </a:solidFill>
                <a:latin typeface="Segoe UI"/>
              </a:rPr>
              <a:t> ₹0 in API spend — measured as latency and tokens instead.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Human-in-the-loop remediation: Sentinel proposes, people decide, everything is audited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50876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Root cause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30552" y="1554480"/>
            <a:ext cx="150876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Playbook actions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proposed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1988820"/>
            <a:ext cx="118872" cy="0"/>
          </a:xfrm>
          <a:prstGeom prst="line">
            <a:avLst/>
          </a:prstGeom>
          <a:ln w="15875">
            <a:solidFill>
              <a:srgbClr val="22D3E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58184" y="1554480"/>
            <a:ext cx="150876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Request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ENGINEER+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39312" y="1988820"/>
            <a:ext cx="118872" cy="0"/>
          </a:xfrm>
          <a:prstGeom prst="line">
            <a:avLst/>
          </a:prstGeom>
          <a:ln w="15875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85816" y="1554480"/>
            <a:ext cx="150876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Approve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SRE+, not requester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66944" y="1988820"/>
            <a:ext cx="118872" cy="0"/>
          </a:xfrm>
          <a:prstGeom prst="line">
            <a:avLst/>
          </a:prstGeom>
          <a:ln w="15875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13448" y="1554480"/>
            <a:ext cx="150876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Execute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adapter, allow-listed kinds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4576" y="1988820"/>
            <a:ext cx="118872" cy="0"/>
          </a:xfrm>
          <a:prstGeom prst="line">
            <a:avLst/>
          </a:prstGeom>
          <a:ln w="15875">
            <a:solidFill>
              <a:srgbClr val="EF444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41080" y="1554480"/>
            <a:ext cx="150876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Verify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service healthy?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522208" y="1988820"/>
            <a:ext cx="118872" cy="0"/>
          </a:xfrm>
          <a:prstGeom prst="line">
            <a:avLst/>
          </a:prstGeom>
          <a:ln w="15875">
            <a:solidFill>
              <a:srgbClr val="22C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68712" y="1554480"/>
            <a:ext cx="1508760" cy="86868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8B9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1">
                <a:solidFill>
                  <a:srgbClr val="E6EDF3"/>
                </a:solidFill>
                <a:latin typeface="Segoe UI"/>
              </a:rPr>
              <a:t>Audit log</a:t>
            </a:r>
          </a:p>
          <a:p>
            <a:pPr algn="ctr"/>
            <a:r>
              <a:rPr sz="800">
                <a:solidFill>
                  <a:srgbClr val="8B98A6"/>
                </a:solidFill>
                <a:latin typeface="Segoe UI"/>
              </a:rPr>
              <a:t>who · what · why · result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0" y="1988820"/>
            <a:ext cx="118872" cy="0"/>
          </a:xfrm>
          <a:prstGeom prst="line">
            <a:avLst/>
          </a:prstGeom>
          <a:ln w="15875">
            <a:solidFill>
              <a:srgbClr val="8B98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2834640"/>
          <a:ext cx="110642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94944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Control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Implementation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2D3EE"/>
                          </a:solidFill>
                          <a:latin typeface="Segoe UI"/>
                        </a:rPr>
                        <a:t>Tested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Recommendation-only default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every action starts as `proposed`; nothing executes automatically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Four-eyes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requester cannot approve their own action (ADMIN excepted)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Execute gate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409 unless approved; only `executable` kinds (rollback, restart, scale, clear_fault)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✓ live on the compose stack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Agent tool boundary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read_logs/metrics/traces/git allowed; rollback/restart/scale denied unless granted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Audit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who, what, when, why, outcome — for logins, faults, rules, approvals, executions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Adapter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simulator release manager today; Kubernetes / Argo / feature flags behind the same 2-method interface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Production engineering is where we earn the word 'production'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539495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2421"/>
                <a:gridCol w="66253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Reliability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Retries + exponential backoff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Idempotent jobs, de-duplicated enqueue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Per-step timeouts, job timeouts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Circuit breakers (model, simulator)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Dead-letter queue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Checkpoint + resume after crash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Graceful shutdown, worker recovery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Rate limiting (memory / Redis)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417320"/>
          <a:ext cx="539495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2421"/>
                <a:gridCol w="662538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Security &amp; operations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JWT + API keys with scopes, RBAC (4 roles)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Audit logs, four-eyes approval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Prompt-injection hardening + verifier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Threat model, runbooks, ADRs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Prometheus metrics for Sentinel itself + Grafana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Alembic migrations, PostgreSQL/SQLite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Docker Compose stack, CI with eval quality gate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69 unit / integration / chaos tests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12064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8B98A6"/>
                </a:solidFill>
                <a:latin typeface="Segoe UI"/>
              </a:rPr>
              <a:t>Known gaps, on purpose: OIDC, PII redaction at ingestion, pgvector at scale, Kubernetes manifests — each has an ADR or a threat-model entry.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TESTBED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Our own production to break: a seven-service shop over real HTTP with a fourteen-fault chaos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15</a:t>
            </a:r>
          </a:p>
        </p:txBody>
      </p:sp>
      <p:pic>
        <p:nvPicPr>
          <p:cNvPr id="6" name="Picture 5" descr="servi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577840" cy="3333479"/>
          </a:xfrm>
          <a:prstGeom prst="rect">
            <a:avLst/>
          </a:prstGeom>
          <a:ln w="9525">
            <a:solidFill>
              <a:srgbClr val="2B3A4A"/>
            </a:solidFill>
          </a:ln>
        </p:spPr>
      </p:pic>
      <p:pic>
        <p:nvPicPr>
          <p:cNvPr id="7" name="Picture 6" descr="cha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486400" cy="3278832"/>
          </a:xfrm>
          <a:prstGeom prst="rect">
            <a:avLst/>
          </a:prstGeom>
          <a:ln w="9525">
            <a:solidFill>
              <a:srgbClr val="2B3A4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466344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Real — </a:t>
            </a:r>
            <a:r>
              <a:rPr sz="1100">
                <a:solidFill>
                  <a:srgbClr val="E6EDF3"/>
                </a:solidFill>
                <a:latin typeface="Segoe UI"/>
              </a:rPr>
              <a:t> seven uvicorn services, real inter-service calls with trace propagation, telemetry pushed to Sentinel and scraped by Prometheus, deployments announced with synthetic Git metadata.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Simulated in-process — </a:t>
            </a:r>
            <a:r>
              <a:rPr sz="1100">
                <a:solidFill>
                  <a:srgbClr val="E6EDF3"/>
                </a:solidFill>
                <a:latin typeface="Segoe UI"/>
              </a:rPr>
              <a:t> DB pool (semaphore + acquire timeout), cache, queue, worker pool, CPU/memory — faithful failure shapes, deterministic and safe.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Faults — </a:t>
            </a:r>
            <a:r>
              <a:rPr sz="1100">
                <a:solidFill>
                  <a:srgbClr val="E6EDF3"/>
                </a:solidFill>
                <a:latin typeface="Segoe UI"/>
              </a:rPr>
              <a:t> pool exhaustion · bad deployment · DB latency · Redis outage · memory leak · CPU · 500 spike · config regression · network latency · packet loss · queue backlog · thread starvation · deadlock · dependency failure.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The evaluation is part of the product: engineers see the same numbers investors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16</a:t>
            </a:r>
          </a:p>
        </p:txBody>
      </p:sp>
      <p:pic>
        <p:nvPicPr>
          <p:cNvPr id="6" name="Picture 5" descr="evalu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8412480" cy="5027542"/>
          </a:xfrm>
          <a:prstGeom prst="rect">
            <a:avLst/>
          </a:prstGeom>
          <a:ln w="9525">
            <a:solidFill>
              <a:srgbClr val="2B3A4A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144000" y="1371600"/>
            <a:ext cx="2651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Per-fault accuracy and confidence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Confusion matrix (expected → predicted)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Every case links to its incident, evidence and hypotheses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'Quick run' re-executes 12 scenarios from the UI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make eval regenerates docs/evaluation/latest.md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Runs anywhere: a laptop with nothing installed, Docker Compose, or Vercel + Railway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"/>
              </a:rPr>
              <a:t>Laptop (zero infra)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sentinel dev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61488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SQLite · in-process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28416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deterministic narrator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95344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demo shop :9000–9007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62272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web :3000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46304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"/>
              </a:rPr>
              <a:t>Docker Compose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194560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PostgreSQL · 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761488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api · worker (ARQ)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328416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simulator · web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895344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Prometheus · Alertmanager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462272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Grafana · OTel collector · Ollama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6304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"/>
              </a:rPr>
              <a:t>Cloud (this deck's links)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2194560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Vercel → Next.js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761488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Railway → API (+ scheduler)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0" y="3328416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Railway → PostgreSQL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895344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Railway → demo simulator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4462272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0A0E13"/>
          </a:solidFill>
          <a:ln w="9525">
            <a:solidFill>
              <a:srgbClr val="2B3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100" b="0">
                <a:solidFill>
                  <a:srgbClr val="E6EDF3"/>
                </a:solidFill>
                <a:latin typeface="Segoe UI"/>
              </a:rPr>
              <a:t>same image, SENTINEL_ROLE=…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8B98A6"/>
                </a:solidFill>
                <a:latin typeface="Segoe UI"/>
              </a:rPr>
              <a:t>No code path changes between shapes — only SENTINEL_* settings. Real services plug in through the same ingestion API or the OpenTelemetry collector.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22D3EE"/>
                </a:solidFill>
                <a:latin typeface="Consolas"/>
              </a:rPr>
              <a:t>web  http://localhost:3000</a:t>
            </a:r>
          </a:p>
          <a:p>
            <a:pPr algn="l"/>
            <a:r>
              <a:rPr sz="1100" b="0" i="0">
                <a:solidFill>
                  <a:srgbClr val="22D3EE"/>
                </a:solidFill>
                <a:latin typeface="Consolas"/>
              </a:rPr>
              <a:t>api  http://localhost:8000</a:t>
            </a:r>
          </a:p>
          <a:p>
            <a:pPr algn="l"/>
            <a:r>
              <a:rPr sz="1100" b="0" i="0">
                <a:solidFill>
                  <a:srgbClr val="22D3EE"/>
                </a:solidFill>
                <a:latin typeface="Consolas"/>
              </a:rPr>
              <a:t>repo https://github.com/raunitgrey7/sentinel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Who it is for, and how it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334"/>
                <a:gridCol w="1947306"/>
                <a:gridCol w="2124334"/>
                <a:gridCol w="2035820"/>
                <a:gridCol w="283244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Observability suites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Incident-management tools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'AI SRE' chat assistants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D3EE"/>
                          </a:solidFill>
                          <a:latin typeface="Segoe UI"/>
                        </a:rPr>
                        <a:t>Sentinel</a:t>
                      </a:r>
                    </a:p>
                  </a:txBody>
                  <a:tcPr marL="73152" marR="73152" marT="27432" marB="27432">
                    <a:solidFill>
                      <a:srgbClr val="17202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Detects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✓ (alerts)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✓ (pages)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 deterministic rules + Alertmanager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Explains why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partial (anomaly widgets)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prose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ranked hypotheses with cited evidence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Shows contradictions &amp; confidence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 calibrated, capped, human-review routing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Data stays on-prem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usually not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not applicable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rarely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 local-first, local model or none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Acts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runbooks, paging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sometimes, unsafely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human-approved, audited, verified</a:t>
                      </a:r>
                    </a:p>
                  </a:txBody>
                  <a:tcPr marL="73152" marR="73152" marT="27432" marB="27432">
                    <a:solidFill>
                      <a:srgbClr val="121A2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Measured accuracy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E6EDF3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2C55E"/>
                          </a:solidFill>
                          <a:latin typeface="Segoe UI"/>
                        </a:rPr>
                        <a:t>✓ 119-case public benchmark</a:t>
                      </a:r>
                    </a:p>
                  </a:txBody>
                  <a:tcPr marL="73152" marR="73152" marT="27432" marB="27432">
                    <a:solidFill>
                      <a:srgbClr val="0A0E1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8920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Buyer — </a:t>
            </a:r>
            <a:r>
              <a:rPr sz="1100">
                <a:solidFill>
                  <a:srgbClr val="E6EDF3"/>
                </a:solidFill>
                <a:latin typeface="Segoe UI"/>
              </a:rPr>
              <a:t> platform / SRE teams at companies with 10–500 services who already own their telemetry and cannot ship it to a third-party model.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Wedge — </a:t>
            </a:r>
            <a:r>
              <a:rPr sz="1100">
                <a:solidFill>
                  <a:srgbClr val="E6EDF3"/>
                </a:solidFill>
                <a:latin typeface="Segoe UI"/>
              </a:rPr>
              <a:t> ingestion is OpenTelemetry-shaped and Alertmanager-compatible — Sentinel sits beside existing monitoring, it does not replace it.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22D3EE"/>
                </a:solidFill>
                <a:latin typeface="Segoe UI"/>
              </a:rPr>
              <a:t>▸ Model — </a:t>
            </a:r>
            <a:r>
              <a:rPr sz="1100">
                <a:solidFill>
                  <a:srgbClr val="E6EDF3"/>
                </a:solidFill>
                <a:latin typeface="Segoe UI"/>
              </a:rPr>
              <a:t> open-source core (Apache-2.0); commercial adapters (Kubernetes/Argo/flags), SSO, multi-tenant control plane, support.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 i="0" spc="200">
                <a:solidFill>
                  <a:srgbClr val="22D3EE"/>
                </a:solidFill>
                <a:latin typeface="Segoe U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 i="0">
                <a:solidFill>
                  <a:srgbClr val="E6EDF3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deterministic pipeline, 14 failure modes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benchmark + CI gate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compose stack, Vercel + Railway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local-model study (3B)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"/>
              </a:rPr>
              <a:t>Next quarter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real-target adapters: Kubernetes, Argo, feature flags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PII redaction at ingestion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per-service ingestion credentials, OIDC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7B+ model study on GPU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"/>
              </a:rPr>
              <a:t>Two quarters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learned scoring from labelled real incidents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pgvector retrieval, multi-project control plane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design partners: 3 teams on real telemetry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public benchmark contributions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463040"/>
            <a:ext cx="2651760" cy="502920"/>
          </a:xfrm>
          <a:prstGeom prst="roundRect">
            <a:avLst>
              <a:gd name="adj" fmla="val 8000"/>
            </a:avLst>
          </a:prstGeom>
          <a:solidFill>
            <a:srgbClr val="121A23"/>
          </a:solidFill>
          <a:ln w="9525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E6EDF3"/>
                </a:solidFill>
                <a:latin typeface="Segoe UI"/>
              </a:rPr>
              <a:t>Beyond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10312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cross-team incident graphs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change-risk prediction before deploys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E6EDF3"/>
                </a:solidFill>
                <a:latin typeface="Segoe UI"/>
              </a:rPr>
              <a:t>▸ managed offering with on-prem data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8B98A6"/>
                </a:solidFill>
                <a:latin typeface="Segoe UI"/>
              </a:rPr>
              <a:t>Every item maps to an ADR or a threat-model gap already written down.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5D6B79"/>
                </a:solidFill>
                <a:latin typeface="Segoe UI"/>
              </a:rPr>
              <a:t>SENTINEL · evidence-driven incident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900" b="0" i="0">
                <a:solidFill>
                  <a:srgbClr val="5D6B79"/>
                </a:solidFill>
                <a:latin typeface="Segoe U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4000" b="0" i="0">
                <a:solidFill>
                  <a:srgbClr val="22D3EE"/>
                </a:solidFill>
                <a:latin typeface="Segoe UI"/>
              </a:rPr>
              <a:t>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E6EDF3"/>
                </a:solidFill>
                <a:latin typeface="Segoe UI"/>
              </a:rPr>
              <a:t>Reality → Evidence → Hypotheses → Verification → Human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0" i="0">
                <a:solidFill>
                  <a:srgbClr val="8B98A6"/>
                </a:solidFill>
                <a:latin typeface="Segoe UI"/>
              </a:rPr>
              <a:t>That architecture is the product. The LLM is the least interesting part.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▸ Try it — </a:t>
            </a:r>
            <a:r>
              <a:rPr sz="1400">
                <a:solidFill>
                  <a:srgbClr val="E6EDF3"/>
                </a:solidFill>
                <a:latin typeface="Segoe UI"/>
              </a:rPr>
              <a:t> http://localhost:3000  (admin@sentinel.local / admin12345)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▸ Read it — </a:t>
            </a:r>
            <a:r>
              <a:rPr sz="1400">
                <a:solidFill>
                  <a:srgbClr val="E6EDF3"/>
                </a:solidFill>
                <a:latin typeface="Segoe UI"/>
              </a:rPr>
              <a:t> https://github.com/raunitgrey7/sentinel  — architecture, ADRs, threat model, evaluation methodology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▸ Break it — </a:t>
            </a:r>
            <a:r>
              <a:rPr sz="1400">
                <a:solidFill>
                  <a:srgbClr val="E6EDF3"/>
                </a:solidFill>
                <a:latin typeface="Segoe UI"/>
              </a:rPr>
              <a:t> Chaos Lab → inject a fault → watch the investigation → ask it Why?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22D3EE"/>
                </a:solidFill>
                <a:latin typeface="Segoe UI"/>
              </a:rPr>
              <a:t>▸ Talk — </a:t>
            </a:r>
            <a:r>
              <a:rPr sz="1400">
                <a:solidFill>
                  <a:srgbClr val="E6EDF3"/>
                </a:solidFill>
                <a:latin typeface="Segoe UI"/>
              </a:rPr>
              <a:t> raunit.thakur@gmail.com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